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8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645920"/>
            <a:ext cx="137160" cy="3291840"/>
          </a:xfrm>
          <a:prstGeom prst="rect">
            <a:avLst/>
          </a:prstGeom>
          <a:solidFill>
            <a:srgbClr val="C99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554480"/>
            <a:ext cx="9601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99738"/>
                </a:solidFill>
                <a:latin typeface="Segoe UI"/>
              </a:defRPr>
            </a:pPr>
            <a:r>
              <a:t>AÇÃO COMERCIAL REGIONAL</a:t>
            </a:r>
          </a:p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CRYSTAL ICE &amp; PETRA ULTRA</a:t>
            </a:r>
          </a:p>
          <a:p>
            <a:pPr>
              <a:defRPr sz="1800">
                <a:solidFill>
                  <a:srgbClr val="E2E8F0"/>
                </a:solidFill>
                <a:latin typeface="Segoe UI"/>
              </a:defRPr>
            </a:pPr>
            <a:r>
              <a:t>Relatório Oficial de Fechamento de Vendas &amp; Desempenho Comercial (RH)</a:t>
            </a:r>
          </a:p>
          <a:p>
            <a:br/>
            <a:pPr>
              <a:defRPr sz="1300">
                <a:solidFill>
                  <a:srgbClr val="F5E6C3"/>
                </a:solidFill>
                <a:latin typeface="Segoe UI"/>
              </a:defRPr>
            </a:pPr>
            <a:r>
              <a:t>✦ Período Oficial da Campanha (Agosto/2026)  |  ✦ 64 Vendedores  |  ✦ 2.320 Caixas Faturadas  |  ✦ 875 Clientes Atendidos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63040" y="5120640"/>
            <a:ext cx="9326880" cy="822960"/>
          </a:xfrm>
          <a:prstGeom prst="roundRect">
            <a:avLst/>
          </a:prstGeom>
          <a:solidFill>
            <a:srgbClr val="163C28"/>
          </a:solidFill>
          <a:ln>
            <a:solidFill>
              <a:srgbClr val="C99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Critério de Apuração: RCA que emitiu o pedido (VEND-PED) • Rankings Oficiais por Volume e Positivação de Clientes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3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C99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RESUMO EXECUTIVO CONSOLIDADO DA CAMPANHA</a:t>
            </a:r>
          </a:p>
          <a:p>
            <a:pPr>
              <a:defRPr sz="1100">
                <a:solidFill>
                  <a:srgbClr val="F5E6C3"/>
                </a:solidFill>
                <a:latin typeface="Segoe UI"/>
              </a:defRPr>
            </a:pPr>
            <a:r>
              <a:t>Visão geral de faturamento, participação de marcas e distribuição de clientes por filial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Campanha Crystal ICE &amp; Petra Ultra • Vendas apuradas por RCA do Pedido (VEND-PED) • Fechamento Oficial (AGO/2026)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25603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4748B"/>
                </a:solidFill>
                <a:latin typeface="Segoe UI"/>
              </a:defRPr>
            </a:pPr>
            <a:r>
              <a:t>TOTAL GERAL AÇÃO</a:t>
            </a:r>
          </a:p>
          <a:p>
            <a:pPr algn="ctr">
              <a:defRPr sz="2400" b="1">
                <a:solidFill>
                  <a:srgbClr val="0F3822"/>
                </a:solidFill>
                <a:latin typeface="Segoe UI"/>
              </a:defRPr>
            </a:pPr>
            <a:r>
              <a:t>2,320 cx</a:t>
            </a:r>
          </a:p>
          <a:p>
            <a:pPr algn="ctr">
              <a:defRPr sz="900">
                <a:solidFill>
                  <a:srgbClr val="475569"/>
                </a:solidFill>
                <a:latin typeface="Segoe UI"/>
              </a:defRPr>
            </a:pPr>
            <a:r>
              <a:t>100% do Volume Total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280160"/>
            <a:ext cx="25603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32588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4748B"/>
                </a:solidFill>
                <a:latin typeface="Segoe UI"/>
              </a:defRPr>
            </a:pPr>
            <a:r>
              <a:t>PETRA ULTRA</a:t>
            </a:r>
          </a:p>
          <a:p>
            <a:pPr algn="ctr">
              <a:defRPr sz="2400" b="1">
                <a:solidFill>
                  <a:srgbClr val="A16207"/>
                </a:solidFill>
                <a:latin typeface="Segoe UI"/>
              </a:defRPr>
            </a:pPr>
            <a:r>
              <a:t>1,557 cx</a:t>
            </a:r>
          </a:p>
          <a:p>
            <a:pPr algn="ctr">
              <a:defRPr sz="900">
                <a:solidFill>
                  <a:srgbClr val="475569"/>
                </a:solidFill>
                <a:latin typeface="Segoe UI"/>
              </a:defRPr>
            </a:pPr>
            <a:r>
              <a:t>67.1% do Volume Total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280160"/>
            <a:ext cx="25603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32588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4748B"/>
                </a:solidFill>
                <a:latin typeface="Segoe UI"/>
              </a:defRPr>
            </a:pPr>
            <a:r>
              <a:t>CRYSTAL ICE</a:t>
            </a:r>
          </a:p>
          <a:p>
            <a:pPr algn="ctr">
              <a:defRPr sz="2400" b="1">
                <a:solidFill>
                  <a:srgbClr val="B91C1C"/>
                </a:solidFill>
                <a:latin typeface="Segoe UI"/>
              </a:defRPr>
            </a:pPr>
            <a:r>
              <a:t>763 cx</a:t>
            </a:r>
          </a:p>
          <a:p>
            <a:pPr algn="ctr">
              <a:defRPr sz="900">
                <a:solidFill>
                  <a:srgbClr val="475569"/>
                </a:solidFill>
                <a:latin typeface="Segoe UI"/>
              </a:defRPr>
            </a:pPr>
            <a:r>
              <a:t>32.9% do Volume Total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1280160"/>
            <a:ext cx="25603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132588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4748B"/>
                </a:solidFill>
                <a:latin typeface="Segoe UI"/>
              </a:defRPr>
            </a:pPr>
            <a:r>
              <a:t>CLIENTES ATENDIDOS</a:t>
            </a:r>
          </a:p>
          <a:p>
            <a:pPr algn="ctr">
              <a:defRPr sz="2400" b="1">
                <a:solidFill>
                  <a:srgbClr val="0369A1"/>
                </a:solidFill>
                <a:latin typeface="Segoe UI"/>
              </a:defRPr>
            </a:pPr>
            <a:r>
              <a:t>875 clis</a:t>
            </a:r>
          </a:p>
          <a:p>
            <a:pPr algn="ctr">
              <a:defRPr sz="900">
                <a:solidFill>
                  <a:srgbClr val="475569"/>
                </a:solidFill>
                <a:latin typeface="Segoe UI"/>
              </a:defRPr>
            </a:pPr>
            <a:r>
              <a:t>Positivações no Período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731520" y="2926080"/>
          <a:ext cx="106984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188720"/>
                <a:gridCol w="1463040"/>
                <a:gridCol w="1463040"/>
                <a:gridCol w="1554480"/>
                <a:gridCol w="1188720"/>
                <a:gridCol w="1554480"/>
              </a:tblGrid>
              <a:tr h="45720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Filial / Empresa</a:t>
                      </a:r>
                    </a:p>
                  </a:txBody>
                  <a:tcPr>
                    <a:solidFill>
                      <a:srgbClr val="164E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Vendedores</a:t>
                      </a:r>
                    </a:p>
                  </a:txBody>
                  <a:tcPr>
                    <a:solidFill>
                      <a:srgbClr val="164E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Petra Ultra (cx)</a:t>
                      </a:r>
                    </a:p>
                  </a:txBody>
                  <a:tcPr>
                    <a:solidFill>
                      <a:srgbClr val="164E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Crystal Ice (cx)</a:t>
                      </a:r>
                    </a:p>
                  </a:txBody>
                  <a:tcPr>
                    <a:solidFill>
                      <a:srgbClr val="164E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Volume Total (cx)</a:t>
                      </a:r>
                    </a:p>
                  </a:txBody>
                  <a:tcPr>
                    <a:solidFill>
                      <a:srgbClr val="164E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% Part.</a:t>
                      </a:r>
                    </a:p>
                  </a:txBody>
                  <a:tcPr>
                    <a:solidFill>
                      <a:srgbClr val="164E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Clientes Atendidos</a:t>
                      </a:r>
                    </a:p>
                  </a:txBody>
                  <a:tcPr>
                    <a:solidFill>
                      <a:srgbClr val="164E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CD-MANAUS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852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347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1,199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51.7%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520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CD-MACAPA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450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535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23.1%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CD-BOA VISTA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127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232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359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15.5%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141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CD-ITACOATIARA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8.3%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CD-PARINTINS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33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1.4%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CD-TABATINGA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0.1%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3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C99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TOP 10 RANKING GERAL — MAIORES VOLUMES (CAIXAS)</a:t>
            </a:r>
          </a:p>
          <a:p>
            <a:pPr>
              <a:defRPr sz="1100">
                <a:solidFill>
                  <a:srgbClr val="F5E6C3"/>
                </a:solidFill>
                <a:latin typeface="Segoe UI"/>
              </a:defRPr>
            </a:pPr>
            <a:r>
              <a:t>Os 10 vendedores com maior volume faturado na campanha de Crystal Ice &amp; Petra Ultra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Campanha Crystal ICE &amp; Petra Ultra • Vendas apuradas por RCA do Pedido (VEND-PED) • Fechamento Oficial (AGO/2026)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325880"/>
          <a:ext cx="1069848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645920"/>
                <a:gridCol w="2194560"/>
                <a:gridCol w="2468880"/>
                <a:gridCol w="822960"/>
                <a:gridCol w="822960"/>
                <a:gridCol w="914400"/>
                <a:gridCol w="822960"/>
              </a:tblGrid>
              <a:tr h="440574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Colocação</a:t>
                      </a:r>
                    </a:p>
                  </a:txBody>
                  <a:tcPr>
                    <a:solidFill>
                      <a:srgbClr val="164E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Empresa / Filial</a:t>
                      </a:r>
                    </a:p>
                  </a:txBody>
                  <a:tcPr>
                    <a:solidFill>
                      <a:srgbClr val="164E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Supervisor</a:t>
                      </a:r>
                    </a:p>
                  </a:txBody>
                  <a:tcPr>
                    <a:solidFill>
                      <a:srgbClr val="164E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Vendedor</a:t>
                      </a:r>
                    </a:p>
                  </a:txBody>
                  <a:tcPr>
                    <a:solidFill>
                      <a:srgbClr val="164E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QTD Ultra</a:t>
                      </a:r>
                    </a:p>
                  </a:txBody>
                  <a:tcPr>
                    <a:solidFill>
                      <a:srgbClr val="164E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QTD Ice</a:t>
                      </a:r>
                    </a:p>
                  </a:txBody>
                  <a:tcPr>
                    <a:solidFill>
                      <a:srgbClr val="164E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Total Ação (cx)</a:t>
                      </a:r>
                    </a:p>
                  </a:txBody>
                  <a:tcPr>
                    <a:solidFill>
                      <a:srgbClr val="164E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Clientes Atend.</a:t>
                      </a:r>
                    </a:p>
                  </a:txBody>
                  <a:tcPr>
                    <a:solidFill>
                      <a:srgbClr val="164E35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🥇 1º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CD-MANAUS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ERMESON BARBOSA DE SOUZA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ERMESON BARBOSA DE SOUZA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130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39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169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🥈 2º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CD-MACAPA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SUPERVISOR AS MACAPA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CARLOS AUGUSTO DOS SANTOS MIRANDA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🥉 3º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CD-ITACOATIARA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CADMIEL AQUINO DE SOUZA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ROGERIO JOSE SIMOES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74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60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134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23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4º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CD-MANAUS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JARLISON JUNIOR SOUZA AUZIER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SANDERLEY MIGUEL DA SILVA ALMEIDA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5º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CD-BOA VISTA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GILDEAN DA SILVA SANTOS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ANANIAS LEANDRO DA SILVA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46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33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79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6º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CD-MANAUS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BRUNO RENAN BADEIRA GOMES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BRUNO RENAN BANDEIRA GOMES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7º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CD-MANAUS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THIAGO LUIZ NEGREIROS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GENESIS RICARDO DA COSTA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72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73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8º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CD-MANAUS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RAFAEL DA SILVA OLIVEIRA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FRANCISCO GLAUBERSON CUNHA BATISTA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9º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CD-MANAUS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JARLISON JUNIOR SOUZA AUZIER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RAFAEL DE SOUZA ALVES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58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63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35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</a:tr>
              <a:tr h="44058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10º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CD-BOA VISTA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GILDEAN DA SILVA SANTOS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DONIZETE PEREIRA SILVA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C99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TOP 10 RANKING GERAL — MAIOR COBERTURA DE CLIENTES (POSITIVAÇÃO)</a:t>
            </a:r>
          </a:p>
          <a:p>
            <a:pPr>
              <a:defRPr sz="1100">
                <a:solidFill>
                  <a:srgbClr val="F5E6C3"/>
                </a:solidFill>
                <a:latin typeface="Segoe UI"/>
              </a:defRPr>
            </a:pPr>
            <a:r>
              <a:t>Os 10 vendedores com maior número de clientes atendidos e positivados na campanha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Campanha Crystal ICE &amp; Petra Ultra • Vendas apuradas por RCA do Pedido (VEND-PED) • Fechamento Oficial (AGO/2026)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325880"/>
          <a:ext cx="1069848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645920"/>
                <a:gridCol w="2194560"/>
                <a:gridCol w="2468880"/>
                <a:gridCol w="914400"/>
                <a:gridCol w="822960"/>
                <a:gridCol w="822960"/>
                <a:gridCol w="822960"/>
              </a:tblGrid>
              <a:tr h="440574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Colocação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Empresa / Filial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Supervisor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Vendedor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Clientes Ação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CLI Ultra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CLI Ice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Total Volume (cx)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🥇 1º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CD-MANAUS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JARLISON JUNIOR SOUZA AUZIER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SANDERLEY MIGUEL DA SILVA ALMEIDA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38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38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132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🥈 2º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CD-MANAUS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RAFAEL DA SILVA OLIVEIRA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FRANCISCO GLAUBERSON CUNHA BATISTA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🥉 3º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CD-MANAUS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BRUNO RENAN BADEIRA GOMES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BRUNO RENAN BANDEIRA GOMES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35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29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79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4º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CD-MANAUS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JARLISON JUNIOR SOUZA AUZIER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RAFAEL DE SOUZA ALVES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5º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CD-MANAUS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EDIOMAR GRIJO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RENATO ABREU DE OLIVEIRA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29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41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6º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CD-MANAUS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RAFAEL DA SILVA OLIVEIRA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ILGLISSON FERREIRA DE SOUZA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7º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CD-MANAUS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JHONISON DE SOUZA SERRAO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ROBERT ANDRADE DE BRITO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23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8º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CD-MANAUS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RAFAEL DA SILVA OLIVEIRA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EVERTON DA ROCHA OLIVEIRA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9º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CD-ITACOATIARA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CADMIEL AQUINO DE SOUZA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ROGERIO JOSE SIMOES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23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134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</a:tr>
              <a:tr h="44058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10º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CD-BOA VISTA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GILDEAN DA SILVA SANTOS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ELIVILSON DEMETRIO CAETANO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3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C99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FILIAL: CD-BOA VISTA — RESULTADOS POR SUPERVISOR E VENDEDOR</a:t>
            </a:r>
          </a:p>
          <a:p>
            <a:pPr>
              <a:defRPr sz="1100">
                <a:solidFill>
                  <a:srgbClr val="F5E6C3"/>
                </a:solidFill>
                <a:latin typeface="Segoe UI"/>
              </a:defRPr>
            </a:pPr>
            <a:r>
              <a:t>Total da Filial: 359 caixas faturadas  •  141 clientes atendidos  •  10 Vendedores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Campanha Crystal ICE &amp; Petra Ultra • Vendas apuradas por RCA do Pedido (VEND-PED) • Fechamento Oficial (AGO/2026)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280160"/>
          <a:ext cx="10698480" cy="4078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383280"/>
                <a:gridCol w="1097280"/>
                <a:gridCol w="1097280"/>
                <a:gridCol w="1097280"/>
                <a:gridCol w="1097280"/>
              </a:tblGrid>
              <a:tr h="31370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Supervisor</a:t>
                      </a:r>
                    </a:p>
                  </a:txBody>
                  <a:tcPr>
                    <a:solidFill>
                      <a:srgbClr val="164E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Vendedor</a:t>
                      </a:r>
                    </a:p>
                  </a:txBody>
                  <a:tcPr>
                    <a:solidFill>
                      <a:srgbClr val="164E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QTD Ultra</a:t>
                      </a:r>
                    </a:p>
                  </a:txBody>
                  <a:tcPr>
                    <a:solidFill>
                      <a:srgbClr val="164E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QTD Ice</a:t>
                      </a:r>
                    </a:p>
                  </a:txBody>
                  <a:tcPr>
                    <a:solidFill>
                      <a:srgbClr val="164E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Total Ação (cx)</a:t>
                      </a:r>
                    </a:p>
                  </a:txBody>
                  <a:tcPr>
                    <a:solidFill>
                      <a:srgbClr val="164E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Clientes Ação</a:t>
                      </a:r>
                    </a:p>
                  </a:txBody>
                  <a:tcPr>
                    <a:solidFill>
                      <a:srgbClr val="164E35"/>
                    </a:solidFill>
                  </a:tcPr>
                </a:tc>
              </a:tr>
              <a:tr h="313709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3822"/>
                          </a:solidFill>
                          <a:latin typeface="Segoe UI"/>
                        </a:defRPr>
                      </a:pPr>
                      <a:r>
                        <a:t>👤 GILDEAN DA SILVA SANTOS</a:t>
                      </a:r>
                    </a:p>
                  </a:txBody>
                  <a:tcPr>
                    <a:solidFill>
                      <a:srgbClr val="E2EF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i="1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Subtotal da equipe (9 vendedores):</a:t>
                      </a:r>
                    </a:p>
                  </a:txBody>
                  <a:tcPr>
                    <a:solidFill>
                      <a:srgbClr val="E2EF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3822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E2EF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3822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E2EFE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950">
                          <a:solidFill>
                            <a:srgbClr val="0F3822"/>
                          </a:solidFill>
                          <a:latin typeface="Segoe UI"/>
                        </a:defRPr>
                      </a:pPr>
                      <a:r>
                        <a:t>355</a:t>
                      </a:r>
                    </a:p>
                  </a:txBody>
                  <a:tcPr>
                    <a:solidFill>
                      <a:srgbClr val="E2EFE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950">
                          <a:solidFill>
                            <a:srgbClr val="0F3822"/>
                          </a:solidFill>
                          <a:latin typeface="Segoe UI"/>
                        </a:defRPr>
                      </a:pPr>
                      <a:r>
                        <a:t>140</a:t>
                      </a:r>
                    </a:p>
                  </a:txBody>
                  <a:tcPr>
                    <a:solidFill>
                      <a:srgbClr val="E2EFE7"/>
                    </a:solidFill>
                  </a:tcPr>
                </a:tc>
              </a:tr>
              <a:tr h="313709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ANANIAS LEANDRO DA SILVA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46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33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79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</a:tr>
              <a:tr h="313709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DONIZETE PEREIRA SILVA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3709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ELIVILSON DEMETRIO CAETANO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37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45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23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</a:tr>
              <a:tr h="313709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HANS MULLER LISBOA DA SILVA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3709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RUI NASCIMENTO DA SILVA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39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</a:tr>
              <a:tr h="313709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JOSE SOARES LIMA NETO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3709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THIAGO DA SILVA MACEDO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</a:tr>
              <a:tr h="313709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FERNANDA LEAL DE MELO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3709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MARCIO NUNES SOUSA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</a:tr>
              <a:tr h="313709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3822"/>
                          </a:solidFill>
                          <a:latin typeface="Segoe UI"/>
                        </a:defRPr>
                      </a:pPr>
                      <a:r>
                        <a:t>👤 WALDEMARINO GAMA FILHO</a:t>
                      </a:r>
                    </a:p>
                  </a:txBody>
                  <a:tcPr>
                    <a:solidFill>
                      <a:srgbClr val="E2EF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i="1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Subtotal da equipe (1 vendedores):</a:t>
                      </a:r>
                    </a:p>
                  </a:txBody>
                  <a:tcPr>
                    <a:solidFill>
                      <a:srgbClr val="E2EF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3822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E2EF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3822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E2EFE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950">
                          <a:solidFill>
                            <a:srgbClr val="0F3822"/>
                          </a:solidFill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2EFE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950">
                          <a:solidFill>
                            <a:srgbClr val="0F3822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2EFE7"/>
                    </a:solidFill>
                  </a:tcPr>
                </a:tc>
              </a:tr>
              <a:tr h="313716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WALDEMARINO GAMA FILHO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3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C99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FILIAL: CD-ITACOATIARA — RESULTADOS POR SUPERVISOR E VENDEDOR</a:t>
            </a:r>
          </a:p>
          <a:p>
            <a:pPr>
              <a:defRPr sz="1100">
                <a:solidFill>
                  <a:srgbClr val="F5E6C3"/>
                </a:solidFill>
                <a:latin typeface="Segoe UI"/>
              </a:defRPr>
            </a:pPr>
            <a:r>
              <a:t>Total da Filial: 192 caixas faturadas  •  42 clientes atendidos  •  4 Vendedores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Campanha Crystal ICE &amp; Petra Ultra • Vendas apuradas por RCA do Pedido (VEND-PED) • Fechamento Oficial (AGO/2026)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280160"/>
          <a:ext cx="10698480" cy="20299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383280"/>
                <a:gridCol w="1097280"/>
                <a:gridCol w="1097280"/>
                <a:gridCol w="1097280"/>
                <a:gridCol w="1097280"/>
              </a:tblGrid>
              <a:tr h="338327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Supervisor</a:t>
                      </a:r>
                    </a:p>
                  </a:txBody>
                  <a:tcPr>
                    <a:solidFill>
                      <a:srgbClr val="164E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Vendedor</a:t>
                      </a:r>
                    </a:p>
                  </a:txBody>
                  <a:tcPr>
                    <a:solidFill>
                      <a:srgbClr val="164E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QTD Ultra</a:t>
                      </a:r>
                    </a:p>
                  </a:txBody>
                  <a:tcPr>
                    <a:solidFill>
                      <a:srgbClr val="164E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QTD Ice</a:t>
                      </a:r>
                    </a:p>
                  </a:txBody>
                  <a:tcPr>
                    <a:solidFill>
                      <a:srgbClr val="164E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Total Ação (cx)</a:t>
                      </a:r>
                    </a:p>
                  </a:txBody>
                  <a:tcPr>
                    <a:solidFill>
                      <a:srgbClr val="164E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Clientes Ação</a:t>
                      </a:r>
                    </a:p>
                  </a:txBody>
                  <a:tcPr>
                    <a:solidFill>
                      <a:srgbClr val="164E35"/>
                    </a:solidFill>
                  </a:tcPr>
                </a:tc>
              </a:tr>
              <a:tr h="338327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3822"/>
                          </a:solidFill>
                          <a:latin typeface="Segoe UI"/>
                        </a:defRPr>
                      </a:pPr>
                      <a:r>
                        <a:t>👤 CADMIEL AQUINO DE SOUZA</a:t>
                      </a:r>
                    </a:p>
                  </a:txBody>
                  <a:tcPr>
                    <a:solidFill>
                      <a:srgbClr val="E2EF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i="1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Subtotal da equipe (4 vendedores):</a:t>
                      </a:r>
                    </a:p>
                  </a:txBody>
                  <a:tcPr>
                    <a:solidFill>
                      <a:srgbClr val="E2EF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3822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E2EF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3822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E2EFE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950">
                          <a:solidFill>
                            <a:srgbClr val="0F3822"/>
                          </a:solidFill>
                          <a:latin typeface="Segoe UI"/>
                        </a:defRPr>
                      </a:pPr>
                      <a:r>
                        <a:t>192</a:t>
                      </a:r>
                    </a:p>
                  </a:txBody>
                  <a:tcPr>
                    <a:solidFill>
                      <a:srgbClr val="E2EFE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950">
                          <a:solidFill>
                            <a:srgbClr val="0F3822"/>
                          </a:solidFill>
                          <a:latin typeface="Segoe UI"/>
                        </a:defRPr>
                      </a:pPr>
                      <a:r>
                        <a:t>42</a:t>
                      </a:r>
                    </a:p>
                  </a:txBody>
                  <a:tcPr>
                    <a:solidFill>
                      <a:srgbClr val="E2EFE7"/>
                    </a:solidFill>
                  </a:tcPr>
                </a:tc>
              </a:tr>
              <a:tr h="338327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ROGERIO JOSE SIMOES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74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60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134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23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</a:tr>
              <a:tr h="338327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KENDY OSAKI GOIS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7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SERGIO PEREIRA DE SOUZA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</a:tr>
              <a:tr h="338332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NAUHAN RYLRE DE SOUZA BRITO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3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C99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FILIAL: CD-MACAPÁ — RESULTADOS POR SUPERVISOR E VENDEDOR</a:t>
            </a:r>
          </a:p>
          <a:p>
            <a:pPr>
              <a:defRPr sz="1100">
                <a:solidFill>
                  <a:srgbClr val="F5E6C3"/>
                </a:solidFill>
                <a:latin typeface="Segoe UI"/>
              </a:defRPr>
            </a:pPr>
            <a:r>
              <a:t>Total da Filial: 535 caixas faturadas  •  157 clientes atendidos  •  15 Vendedores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Campanha Crystal ICE &amp; Petra Ultra • Vendas apuradas por RCA do Pedido (VEND-PED) • Fechamento Oficial (AGO/2026)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280160"/>
          <a:ext cx="1069848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383280"/>
                <a:gridCol w="1097280"/>
                <a:gridCol w="1097280"/>
                <a:gridCol w="1097280"/>
                <a:gridCol w="1097280"/>
              </a:tblGrid>
              <a:tr h="269507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Supervisor</a:t>
                      </a:r>
                    </a:p>
                  </a:txBody>
                  <a:tcPr>
                    <a:solidFill>
                      <a:srgbClr val="164E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Vendedor</a:t>
                      </a:r>
                    </a:p>
                  </a:txBody>
                  <a:tcPr>
                    <a:solidFill>
                      <a:srgbClr val="164E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QTD Ultra</a:t>
                      </a:r>
                    </a:p>
                  </a:txBody>
                  <a:tcPr>
                    <a:solidFill>
                      <a:srgbClr val="164E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QTD Ice</a:t>
                      </a:r>
                    </a:p>
                  </a:txBody>
                  <a:tcPr>
                    <a:solidFill>
                      <a:srgbClr val="164E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Total Ação (cx)</a:t>
                      </a:r>
                    </a:p>
                  </a:txBody>
                  <a:tcPr>
                    <a:solidFill>
                      <a:srgbClr val="164E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Clientes Ação</a:t>
                      </a:r>
                    </a:p>
                  </a:txBody>
                  <a:tcPr>
                    <a:solidFill>
                      <a:srgbClr val="164E35"/>
                    </a:solidFill>
                  </a:tcPr>
                </a:tc>
              </a:tr>
              <a:tr h="269507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3822"/>
                          </a:solidFill>
                          <a:latin typeface="Segoe UI"/>
                        </a:defRPr>
                      </a:pPr>
                      <a:r>
                        <a:t>👤 EWERTON SOUZA DE SA PEREIRA</a:t>
                      </a:r>
                    </a:p>
                  </a:txBody>
                  <a:tcPr>
                    <a:solidFill>
                      <a:srgbClr val="E2EF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i="1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Subtotal da equipe (3 vendedores):</a:t>
                      </a:r>
                    </a:p>
                  </a:txBody>
                  <a:tcPr>
                    <a:solidFill>
                      <a:srgbClr val="E2EF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3822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E2EF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3822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E2EFE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950">
                          <a:solidFill>
                            <a:srgbClr val="0F3822"/>
                          </a:solidFill>
                          <a:latin typeface="Segoe UI"/>
                        </a:defRPr>
                      </a:pPr>
                      <a:r>
                        <a:t>155</a:t>
                      </a:r>
                    </a:p>
                  </a:txBody>
                  <a:tcPr>
                    <a:solidFill>
                      <a:srgbClr val="E2EFE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950">
                          <a:solidFill>
                            <a:srgbClr val="0F3822"/>
                          </a:solidFill>
                          <a:latin typeface="Segoe UI"/>
                        </a:defRPr>
                      </a:pPr>
                      <a:r>
                        <a:t>49</a:t>
                      </a:r>
                    </a:p>
                  </a:txBody>
                  <a:tcPr>
                    <a:solidFill>
                      <a:srgbClr val="E2EFE7"/>
                    </a:solidFill>
                  </a:tcPr>
                </a:tc>
              </a:tr>
              <a:tr h="269507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VENDEDOR VAGO INTERIOR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44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60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</a:tr>
              <a:tr h="269507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CAIO EDUARDO MARQUES DOS SANTOS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9507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ANTONIO CARLOS DINIZ JUNIOR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45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47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</a:tr>
              <a:tr h="269507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3822"/>
                          </a:solidFill>
                          <a:latin typeface="Segoe UI"/>
                        </a:defRPr>
                      </a:pPr>
                      <a:r>
                        <a:t>👤 MAURICIO BRUNO NUNES LEMOS</a:t>
                      </a:r>
                    </a:p>
                  </a:txBody>
                  <a:tcPr>
                    <a:solidFill>
                      <a:srgbClr val="E2EF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i="1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Subtotal da equipe (11 vendedores):</a:t>
                      </a:r>
                    </a:p>
                  </a:txBody>
                  <a:tcPr>
                    <a:solidFill>
                      <a:srgbClr val="E2EF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3822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E2EF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3822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E2EFE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950">
                          <a:solidFill>
                            <a:srgbClr val="0F3822"/>
                          </a:solidFill>
                          <a:latin typeface="Segoe UI"/>
                        </a:defRPr>
                      </a:pPr>
                      <a:r>
                        <a:t>226</a:t>
                      </a:r>
                    </a:p>
                  </a:txBody>
                  <a:tcPr>
                    <a:solidFill>
                      <a:srgbClr val="E2EFE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950">
                          <a:solidFill>
                            <a:srgbClr val="0F3822"/>
                          </a:solidFill>
                          <a:latin typeface="Segoe UI"/>
                        </a:defRPr>
                      </a:pPr>
                      <a:r>
                        <a:t>96</a:t>
                      </a:r>
                    </a:p>
                  </a:txBody>
                  <a:tcPr>
                    <a:solidFill>
                      <a:srgbClr val="E2EFE7"/>
                    </a:solidFill>
                  </a:tcPr>
                </a:tc>
              </a:tr>
              <a:tr h="269507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MARCELO DA COSTA CARVALHO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33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39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</a:tr>
              <a:tr h="269507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WILLIAM CRISTIANO COUTINHO FERREIRA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9507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KLEIBE JUNIOR SERRÃO VIANA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29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</a:tr>
              <a:tr h="269507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LUCAS MATEUS REIS NASCIMENTO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9507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HAILTON OLIVEIRA ALMEIDA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23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</a:tr>
              <a:tr h="269507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MACSUEL GOMES DA SILVA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9507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GEAN RICHARD DA SILVA GAMA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</a:tr>
              <a:tr h="269507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KLEILTON PORTO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9507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WASHINGTON DAS CHAGAS OLIVEIRA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</a:tr>
              <a:tr h="269507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ALDENLUAN SOUZA DA SILVA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9507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MAURICIO BRUNO NUNES LEMOS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</a:tr>
              <a:tr h="269507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3822"/>
                          </a:solidFill>
                          <a:latin typeface="Segoe UI"/>
                        </a:defRPr>
                      </a:pPr>
                      <a:r>
                        <a:t>👤 SUPERVISOR AS MACAPA</a:t>
                      </a:r>
                    </a:p>
                  </a:txBody>
                  <a:tcPr>
                    <a:solidFill>
                      <a:srgbClr val="E2EF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i="1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Subtotal da equipe (1 vendedores):</a:t>
                      </a:r>
                    </a:p>
                  </a:txBody>
                  <a:tcPr>
                    <a:solidFill>
                      <a:srgbClr val="E2EF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3822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E2EF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3822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E2EFE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950">
                          <a:solidFill>
                            <a:srgbClr val="0F3822"/>
                          </a:solidFill>
                          <a:latin typeface="Segoe UI"/>
                        </a:defRPr>
                      </a:pPr>
                      <a:r>
                        <a:t>154</a:t>
                      </a:r>
                    </a:p>
                  </a:txBody>
                  <a:tcPr>
                    <a:solidFill>
                      <a:srgbClr val="E2EFE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950">
                          <a:solidFill>
                            <a:srgbClr val="0F3822"/>
                          </a:solidFill>
                          <a:latin typeface="Segoe UI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E2EFE7"/>
                    </a:solidFill>
                  </a:tcPr>
                </a:tc>
              </a:tr>
              <a:tr h="269514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CARLOS AUGUSTO DOS SANTOS MIRANDA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154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154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3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C99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FILIAL: CD-MANAUS (PARTE 1/3) — RESULTADOS POR SUPERVISOR E VENDEDOR</a:t>
            </a:r>
          </a:p>
          <a:p>
            <a:pPr>
              <a:defRPr sz="1100">
                <a:solidFill>
                  <a:srgbClr val="F5E6C3"/>
                </a:solidFill>
                <a:latin typeface="Segoe UI"/>
              </a:defRPr>
            </a:pPr>
            <a:r>
              <a:t>Supervisores: Ediomar Grijó &amp; Rafael Oliveira  •  Subtotal: 392 caixas (244 clientes)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Campanha Crystal ICE &amp; Petra Ultra • Vendas apuradas por RCA do Pedido (VEND-PED) • Fechamento Oficial (AGO/2026)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280160"/>
          <a:ext cx="10698480" cy="4956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383280"/>
                <a:gridCol w="1097280"/>
                <a:gridCol w="1097280"/>
                <a:gridCol w="1097280"/>
                <a:gridCol w="1097280"/>
              </a:tblGrid>
              <a:tr h="309753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Supervisor</a:t>
                      </a:r>
                    </a:p>
                  </a:txBody>
                  <a:tcPr>
                    <a:solidFill>
                      <a:srgbClr val="164E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Vendedor</a:t>
                      </a:r>
                    </a:p>
                  </a:txBody>
                  <a:tcPr>
                    <a:solidFill>
                      <a:srgbClr val="164E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QTD Ultra</a:t>
                      </a:r>
                    </a:p>
                  </a:txBody>
                  <a:tcPr>
                    <a:solidFill>
                      <a:srgbClr val="164E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QTD Ice</a:t>
                      </a:r>
                    </a:p>
                  </a:txBody>
                  <a:tcPr>
                    <a:solidFill>
                      <a:srgbClr val="164E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Total Ação (cx)</a:t>
                      </a:r>
                    </a:p>
                  </a:txBody>
                  <a:tcPr>
                    <a:solidFill>
                      <a:srgbClr val="164E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Clientes Ação</a:t>
                      </a:r>
                    </a:p>
                  </a:txBody>
                  <a:tcPr>
                    <a:solidFill>
                      <a:srgbClr val="164E35"/>
                    </a:solidFill>
                  </a:tcPr>
                </a:tc>
              </a:tr>
              <a:tr h="309753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3822"/>
                          </a:solidFill>
                          <a:latin typeface="Segoe UI"/>
                        </a:defRPr>
                      </a:pPr>
                      <a:r>
                        <a:t>👤 EDIOMAR GRIJO</a:t>
                      </a:r>
                    </a:p>
                  </a:txBody>
                  <a:tcPr>
                    <a:solidFill>
                      <a:srgbClr val="E2EF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i="1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Subtotal da equipe (6 vendedores):</a:t>
                      </a:r>
                    </a:p>
                  </a:txBody>
                  <a:tcPr>
                    <a:solidFill>
                      <a:srgbClr val="E2EF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3822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E2EF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3822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E2EFE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950">
                          <a:solidFill>
                            <a:srgbClr val="0F3822"/>
                          </a:solidFill>
                          <a:latin typeface="Segoe UI"/>
                        </a:defRPr>
                      </a:pPr>
                      <a:r>
                        <a:t>138</a:t>
                      </a:r>
                    </a:p>
                  </a:txBody>
                  <a:tcPr>
                    <a:solidFill>
                      <a:srgbClr val="E2EFE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950">
                          <a:solidFill>
                            <a:srgbClr val="0F3822"/>
                          </a:solidFill>
                          <a:latin typeface="Segoe UI"/>
                        </a:defRPr>
                      </a:pPr>
                      <a:r>
                        <a:t>91</a:t>
                      </a:r>
                    </a:p>
                  </a:txBody>
                  <a:tcPr>
                    <a:solidFill>
                      <a:srgbClr val="E2EFE7"/>
                    </a:solidFill>
                  </a:tcPr>
                </a:tc>
              </a:tr>
              <a:tr h="309753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RENATO ABREU DE OLIVEIRA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41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29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</a:tr>
              <a:tr h="309753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FRANCISCO DE ASSIS BARBOZA SILVA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9753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AILTON CESAR SOARES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</a:tr>
              <a:tr h="309753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ALEX DIEGO SANTOS DE OLIVEIRA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9753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ADRIANO SOUZA DA SILVA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</a:tr>
              <a:tr h="309753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LAURO SABA SILVA DE SOUSA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9753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3822"/>
                          </a:solidFill>
                          <a:latin typeface="Segoe UI"/>
                        </a:defRPr>
                      </a:pPr>
                      <a:r>
                        <a:t>👤 RAFAEL DA SILVA OLIVEIRA</a:t>
                      </a:r>
                    </a:p>
                  </a:txBody>
                  <a:tcPr>
                    <a:solidFill>
                      <a:srgbClr val="E2EF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i="1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Subtotal da equipe (7 vendedores):</a:t>
                      </a:r>
                    </a:p>
                  </a:txBody>
                  <a:tcPr>
                    <a:solidFill>
                      <a:srgbClr val="E2EF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3822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E2EF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3822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E2EFE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950">
                          <a:solidFill>
                            <a:srgbClr val="0F3822"/>
                          </a:solidFill>
                          <a:latin typeface="Segoe UI"/>
                        </a:defRPr>
                      </a:pPr>
                      <a:r>
                        <a:t>254</a:t>
                      </a:r>
                    </a:p>
                  </a:txBody>
                  <a:tcPr>
                    <a:solidFill>
                      <a:srgbClr val="E2EFE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950">
                          <a:solidFill>
                            <a:srgbClr val="0F3822"/>
                          </a:solidFill>
                          <a:latin typeface="Segoe UI"/>
                        </a:defRPr>
                      </a:pPr>
                      <a:r>
                        <a:t>153</a:t>
                      </a:r>
                    </a:p>
                  </a:txBody>
                  <a:tcPr>
                    <a:solidFill>
                      <a:srgbClr val="E2EFE7"/>
                    </a:solidFill>
                  </a:tcPr>
                </a:tc>
              </a:tr>
              <a:tr h="309753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FRANCISCO GLAUBERSON CUNHA BATISTA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9753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EVERTON DA ROCHA OLIVEIRA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</a:tr>
              <a:tr h="309753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ILGLISSON FERREIRA DE SOUZA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9753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GAUVIA DOS SANTOS DE LIMA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31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23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</a:tr>
              <a:tr h="309753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THIAGO LUCATELLE SOUZA DE SOUZA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9753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ALDINEY VALE DA SILVA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27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29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</a:tr>
              <a:tr h="309753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ALCIMAR BATISTA PANTOJA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3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C99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FILIAL: CD-MANAUS (PARTE 2/3) — RESULTADOS POR SUPERVISOR E VENDEDOR</a:t>
            </a:r>
          </a:p>
          <a:p>
            <a:pPr>
              <a:defRPr sz="1100">
                <a:solidFill>
                  <a:srgbClr val="F5E6C3"/>
                </a:solidFill>
                <a:latin typeface="Segoe UI"/>
              </a:defRPr>
            </a:pPr>
            <a:r>
              <a:t>Supervisores: Marcone Carvalho, Thiago Negreiros &amp; Jarlison Auzier  •  Subtotal: 453 caixas (149 clientes)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Campanha Crystal ICE &amp; Petra Ultra • Vendas apuradas por RCA do Pedido (VEND-PED) • Fechamento Oficial (AGO/2026)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280160"/>
          <a:ext cx="1069848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383280"/>
                <a:gridCol w="1097280"/>
                <a:gridCol w="1097280"/>
                <a:gridCol w="1097280"/>
                <a:gridCol w="109728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Supervisor</a:t>
                      </a:r>
                    </a:p>
                  </a:txBody>
                  <a:tcPr>
                    <a:solidFill>
                      <a:srgbClr val="164E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Vendedor</a:t>
                      </a:r>
                    </a:p>
                  </a:txBody>
                  <a:tcPr>
                    <a:solidFill>
                      <a:srgbClr val="164E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QTD Ultra</a:t>
                      </a:r>
                    </a:p>
                  </a:txBody>
                  <a:tcPr>
                    <a:solidFill>
                      <a:srgbClr val="164E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QTD Ice</a:t>
                      </a:r>
                    </a:p>
                  </a:txBody>
                  <a:tcPr>
                    <a:solidFill>
                      <a:srgbClr val="164E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Total Ação (cx)</a:t>
                      </a:r>
                    </a:p>
                  </a:txBody>
                  <a:tcPr>
                    <a:solidFill>
                      <a:srgbClr val="164E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Clientes Ação</a:t>
                      </a:r>
                    </a:p>
                  </a:txBody>
                  <a:tcPr>
                    <a:solidFill>
                      <a:srgbClr val="164E3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3822"/>
                          </a:solidFill>
                          <a:latin typeface="Segoe UI"/>
                        </a:defRPr>
                      </a:pPr>
                      <a:r>
                        <a:t>👤 JARLISON JUNIOR SOUZA AUZIER</a:t>
                      </a:r>
                    </a:p>
                  </a:txBody>
                  <a:tcPr>
                    <a:solidFill>
                      <a:srgbClr val="E2EF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i="1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Subtotal da equipe (2 vendedores):</a:t>
                      </a:r>
                    </a:p>
                  </a:txBody>
                  <a:tcPr>
                    <a:solidFill>
                      <a:srgbClr val="E2EF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3822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E2EF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3822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E2EFE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950">
                          <a:solidFill>
                            <a:srgbClr val="0F3822"/>
                          </a:solidFill>
                          <a:latin typeface="Segoe UI"/>
                        </a:defRPr>
                      </a:pPr>
                      <a:r>
                        <a:t>195</a:t>
                      </a:r>
                    </a:p>
                  </a:txBody>
                  <a:tcPr>
                    <a:solidFill>
                      <a:srgbClr val="E2EFE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950">
                          <a:solidFill>
                            <a:srgbClr val="0F3822"/>
                          </a:solidFill>
                          <a:latin typeface="Segoe UI"/>
                        </a:defRPr>
                      </a:pPr>
                      <a:r>
                        <a:t>73</a:t>
                      </a:r>
                    </a:p>
                  </a:txBody>
                  <a:tcPr>
                    <a:solidFill>
                      <a:srgbClr val="E2EFE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SANDERLEY MIGUEL DA SILVA ALMEIDA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128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132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38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RAFAEL DE SOUZA ALVES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3822"/>
                          </a:solidFill>
                          <a:latin typeface="Segoe UI"/>
                        </a:defRPr>
                      </a:pPr>
                      <a:r>
                        <a:t>👤 MARCONE CARVALHO</a:t>
                      </a:r>
                    </a:p>
                  </a:txBody>
                  <a:tcPr>
                    <a:solidFill>
                      <a:srgbClr val="E2EF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i="1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Subtotal da equipe (5 vendedores):</a:t>
                      </a:r>
                    </a:p>
                  </a:txBody>
                  <a:tcPr>
                    <a:solidFill>
                      <a:srgbClr val="E2EF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3822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E2EF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3822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E2EFE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950">
                          <a:solidFill>
                            <a:srgbClr val="0F3822"/>
                          </a:solidFill>
                          <a:latin typeface="Segoe UI"/>
                        </a:defRPr>
                      </a:pPr>
                      <a:r>
                        <a:t>133</a:t>
                      </a:r>
                    </a:p>
                  </a:txBody>
                  <a:tcPr>
                    <a:solidFill>
                      <a:srgbClr val="E2EFE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950">
                          <a:solidFill>
                            <a:srgbClr val="0F3822"/>
                          </a:solidFill>
                          <a:latin typeface="Segoe UI"/>
                        </a:defRPr>
                      </a:pPr>
                      <a:r>
                        <a:t>41</a:t>
                      </a:r>
                    </a:p>
                  </a:txBody>
                  <a:tcPr>
                    <a:solidFill>
                      <a:srgbClr val="E2EFE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DIEGO VALE DA SILVA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HERIC MENEZES DE ARAGAO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36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42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ERICK GIMACH GAMA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ANTONIO FERREIRA DE AGUIAR FILHO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ALEXANDRE LEITE BRAUNA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3822"/>
                          </a:solidFill>
                          <a:latin typeface="Segoe UI"/>
                        </a:defRPr>
                      </a:pPr>
                      <a:r>
                        <a:t>👤 THIAGO LUIZ NEGREIROS</a:t>
                      </a:r>
                    </a:p>
                  </a:txBody>
                  <a:tcPr>
                    <a:solidFill>
                      <a:srgbClr val="E2EF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i="1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Subtotal da equipe (4 vendedores):</a:t>
                      </a:r>
                    </a:p>
                  </a:txBody>
                  <a:tcPr>
                    <a:solidFill>
                      <a:srgbClr val="E2EF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3822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E2EF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3822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E2EFE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950">
                          <a:solidFill>
                            <a:srgbClr val="0F3822"/>
                          </a:solidFill>
                          <a:latin typeface="Segoe UI"/>
                        </a:defRPr>
                      </a:pPr>
                      <a:r>
                        <a:t>125</a:t>
                      </a:r>
                    </a:p>
                  </a:txBody>
                  <a:tcPr>
                    <a:solidFill>
                      <a:srgbClr val="E2EFE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950">
                          <a:solidFill>
                            <a:srgbClr val="0F3822"/>
                          </a:solidFill>
                          <a:latin typeface="Segoe UI"/>
                        </a:defRPr>
                      </a:pPr>
                      <a:r>
                        <a:t>35</a:t>
                      </a:r>
                    </a:p>
                  </a:txBody>
                  <a:tcPr>
                    <a:solidFill>
                      <a:srgbClr val="E2EFE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GENESIS RICARDO DA COSTA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HUMBERTO DO NASCIMENTO HOLANDA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27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ALDAIR FERREIRA VIEIRA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DJAMES SILVA SANTOS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3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C99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FILIAL: CD-MANAUS (PARTE 3/3) — RESULTADOS POR SUPERVISOR E VENDEDOR</a:t>
            </a:r>
          </a:p>
          <a:p>
            <a:pPr>
              <a:defRPr sz="1100">
                <a:solidFill>
                  <a:srgbClr val="F5E6C3"/>
                </a:solidFill>
                <a:latin typeface="Segoe UI"/>
              </a:defRPr>
            </a:pPr>
            <a:r>
              <a:t>Supervisores: Jhonison Serrão, Ermeson Barbosa &amp; Bruno Renan  •  Subtotal: 354 caixas (127 clientes)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Campanha Crystal ICE &amp; Petra Ultra • Vendas apuradas por RCA do Pedido (VEND-PED) • Fechamento Oficial (AGO/2026)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280160"/>
          <a:ext cx="10698480" cy="37856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383280"/>
                <a:gridCol w="1097280"/>
                <a:gridCol w="1097280"/>
                <a:gridCol w="1097280"/>
                <a:gridCol w="1097280"/>
              </a:tblGrid>
              <a:tr h="315467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Supervisor</a:t>
                      </a:r>
                    </a:p>
                  </a:txBody>
                  <a:tcPr>
                    <a:solidFill>
                      <a:srgbClr val="164E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Vendedor</a:t>
                      </a:r>
                    </a:p>
                  </a:txBody>
                  <a:tcPr>
                    <a:solidFill>
                      <a:srgbClr val="164E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QTD Ultra</a:t>
                      </a:r>
                    </a:p>
                  </a:txBody>
                  <a:tcPr>
                    <a:solidFill>
                      <a:srgbClr val="164E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QTD Ice</a:t>
                      </a:r>
                    </a:p>
                  </a:txBody>
                  <a:tcPr>
                    <a:solidFill>
                      <a:srgbClr val="164E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Total Ação (cx)</a:t>
                      </a:r>
                    </a:p>
                  </a:txBody>
                  <a:tcPr>
                    <a:solidFill>
                      <a:srgbClr val="164E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Clientes Ação</a:t>
                      </a:r>
                    </a:p>
                  </a:txBody>
                  <a:tcPr>
                    <a:solidFill>
                      <a:srgbClr val="164E35"/>
                    </a:solidFill>
                  </a:tcPr>
                </a:tc>
              </a:tr>
              <a:tr h="315467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3822"/>
                          </a:solidFill>
                          <a:latin typeface="Segoe UI"/>
                        </a:defRPr>
                      </a:pPr>
                      <a:r>
                        <a:t>👤 BRUNO RENAN BADEIRA GOMES</a:t>
                      </a:r>
                    </a:p>
                  </a:txBody>
                  <a:tcPr>
                    <a:solidFill>
                      <a:srgbClr val="E2EF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i="1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Subtotal da equipe (1 vendedores):</a:t>
                      </a:r>
                    </a:p>
                  </a:txBody>
                  <a:tcPr>
                    <a:solidFill>
                      <a:srgbClr val="E2EF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3822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E2EF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3822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E2EFE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950">
                          <a:solidFill>
                            <a:srgbClr val="0F3822"/>
                          </a:solidFill>
                          <a:latin typeface="Segoe UI"/>
                        </a:defRPr>
                      </a:pPr>
                      <a:r>
                        <a:t>79</a:t>
                      </a:r>
                    </a:p>
                  </a:txBody>
                  <a:tcPr>
                    <a:solidFill>
                      <a:srgbClr val="E2EFE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950">
                          <a:solidFill>
                            <a:srgbClr val="0F3822"/>
                          </a:solidFill>
                          <a:latin typeface="Segoe UI"/>
                        </a:defRPr>
                      </a:pPr>
                      <a:r>
                        <a:t>35</a:t>
                      </a:r>
                    </a:p>
                  </a:txBody>
                  <a:tcPr>
                    <a:solidFill>
                      <a:srgbClr val="E2EFE7"/>
                    </a:solidFill>
                  </a:tcPr>
                </a:tc>
              </a:tr>
              <a:tr h="315467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BRUNO RENAN BANDEIRA GOMES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37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42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79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35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</a:tr>
              <a:tr h="315467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3822"/>
                          </a:solidFill>
                          <a:latin typeface="Segoe UI"/>
                        </a:defRPr>
                      </a:pPr>
                      <a:r>
                        <a:t>👤 ERMESON BARBOSA DE SOUZA</a:t>
                      </a:r>
                    </a:p>
                  </a:txBody>
                  <a:tcPr>
                    <a:solidFill>
                      <a:srgbClr val="E2EF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i="1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Subtotal da equipe (1 vendedores):</a:t>
                      </a:r>
                    </a:p>
                  </a:txBody>
                  <a:tcPr>
                    <a:solidFill>
                      <a:srgbClr val="E2EF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3822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E2EF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3822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E2EFE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950">
                          <a:solidFill>
                            <a:srgbClr val="0F3822"/>
                          </a:solidFill>
                          <a:latin typeface="Segoe UI"/>
                        </a:defRPr>
                      </a:pPr>
                      <a:r>
                        <a:t>169</a:t>
                      </a:r>
                    </a:p>
                  </a:txBody>
                  <a:tcPr>
                    <a:solidFill>
                      <a:srgbClr val="E2EFE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950">
                          <a:solidFill>
                            <a:srgbClr val="0F3822"/>
                          </a:solidFill>
                          <a:latin typeface="Segoe U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E2EFE7"/>
                    </a:solidFill>
                  </a:tcPr>
                </a:tc>
              </a:tr>
              <a:tr h="315467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ERMESON BARBOSA DE SOUZA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130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39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169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</a:tr>
              <a:tr h="315467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3822"/>
                          </a:solidFill>
                          <a:latin typeface="Segoe UI"/>
                        </a:defRPr>
                      </a:pPr>
                      <a:r>
                        <a:t>👤 JHONISON DE SOUZA SERRAO</a:t>
                      </a:r>
                    </a:p>
                  </a:txBody>
                  <a:tcPr>
                    <a:solidFill>
                      <a:srgbClr val="E2EF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i="1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Subtotal da equipe (6 vendedores):</a:t>
                      </a:r>
                    </a:p>
                  </a:txBody>
                  <a:tcPr>
                    <a:solidFill>
                      <a:srgbClr val="E2EF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3822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E2EF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3822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E2EFE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950">
                          <a:solidFill>
                            <a:srgbClr val="0F3822"/>
                          </a:solidFill>
                          <a:latin typeface="Segoe UI"/>
                        </a:defRPr>
                      </a:pPr>
                      <a:r>
                        <a:t>106</a:t>
                      </a:r>
                    </a:p>
                  </a:txBody>
                  <a:tcPr>
                    <a:solidFill>
                      <a:srgbClr val="E2EFE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950">
                          <a:solidFill>
                            <a:srgbClr val="0F3822"/>
                          </a:solidFill>
                          <a:latin typeface="Segoe UI"/>
                        </a:defRPr>
                      </a:pPr>
                      <a:r>
                        <a:t>82</a:t>
                      </a:r>
                    </a:p>
                  </a:txBody>
                  <a:tcPr>
                    <a:solidFill>
                      <a:srgbClr val="E2EFE7"/>
                    </a:solidFill>
                  </a:tcPr>
                </a:tc>
              </a:tr>
              <a:tr h="315467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VILDES SOUSA FERREIRA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</a:tr>
              <a:tr h="315467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ROBERT ANDRADE DE BRITO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5467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JHONISON DE SOUZA SERRAO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</a:tr>
              <a:tr h="315467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LEANDRO DO NASCIMENTO DUARTE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5467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JACKSON ARAÚJO DE OLIVEIRA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</a:tr>
              <a:tr h="315478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RAMON BARBOSA DOS SANTOS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3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C99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FILIAIS: CD-PARINTINS &amp; CD-TABATINGA — RESULTADOS POR SUPERVISOR E VENDEDOR</a:t>
            </a:r>
          </a:p>
          <a:p>
            <a:pPr>
              <a:defRPr sz="1100">
                <a:solidFill>
                  <a:srgbClr val="F5E6C3"/>
                </a:solidFill>
                <a:latin typeface="Segoe UI"/>
              </a:defRPr>
            </a:pPr>
            <a:r>
              <a:t>Parintins: 33 cx  •  Tabatinga: 2 cx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Campanha Crystal ICE &amp; Petra Ultra • Vendas apuradas por RCA do Pedido (VEND-PED) • Fechamento Oficial (AGO/2026)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280160"/>
          <a:ext cx="10698480" cy="20299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383280"/>
                <a:gridCol w="1097280"/>
                <a:gridCol w="1097280"/>
                <a:gridCol w="1097280"/>
                <a:gridCol w="1097280"/>
              </a:tblGrid>
              <a:tr h="338327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Supervisor</a:t>
                      </a:r>
                    </a:p>
                  </a:txBody>
                  <a:tcPr>
                    <a:solidFill>
                      <a:srgbClr val="164E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Vendedor</a:t>
                      </a:r>
                    </a:p>
                  </a:txBody>
                  <a:tcPr>
                    <a:solidFill>
                      <a:srgbClr val="164E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QTD Ultra</a:t>
                      </a:r>
                    </a:p>
                  </a:txBody>
                  <a:tcPr>
                    <a:solidFill>
                      <a:srgbClr val="164E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QTD Ice</a:t>
                      </a:r>
                    </a:p>
                  </a:txBody>
                  <a:tcPr>
                    <a:solidFill>
                      <a:srgbClr val="164E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Total Ação (cx)</a:t>
                      </a:r>
                    </a:p>
                  </a:txBody>
                  <a:tcPr>
                    <a:solidFill>
                      <a:srgbClr val="164E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Clientes Ação</a:t>
                      </a:r>
                    </a:p>
                  </a:txBody>
                  <a:tcPr>
                    <a:solidFill>
                      <a:srgbClr val="164E35"/>
                    </a:solidFill>
                  </a:tcPr>
                </a:tc>
              </a:tr>
              <a:tr h="338327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3822"/>
                          </a:solidFill>
                          <a:latin typeface="Segoe UI"/>
                        </a:defRPr>
                      </a:pPr>
                      <a:r>
                        <a:t>👤 ADSON BINDA GOMES</a:t>
                      </a:r>
                    </a:p>
                  </a:txBody>
                  <a:tcPr>
                    <a:solidFill>
                      <a:srgbClr val="E2EF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i="1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Subtotal da equipe (2 vendedores):</a:t>
                      </a:r>
                    </a:p>
                  </a:txBody>
                  <a:tcPr>
                    <a:solidFill>
                      <a:srgbClr val="E2EF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3822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E2EF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3822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E2EFE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950">
                          <a:solidFill>
                            <a:srgbClr val="0F3822"/>
                          </a:solidFill>
                          <a:latin typeface="Segoe UI"/>
                        </a:defRPr>
                      </a:pPr>
                      <a:r>
                        <a:t>33</a:t>
                      </a:r>
                    </a:p>
                  </a:txBody>
                  <a:tcPr>
                    <a:solidFill>
                      <a:srgbClr val="E2EFE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950">
                          <a:solidFill>
                            <a:srgbClr val="0F3822"/>
                          </a:solidFill>
                          <a:latin typeface="Segoe UI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E2EFE7"/>
                    </a:solidFill>
                  </a:tcPr>
                </a:tc>
              </a:tr>
              <a:tr h="338327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MAISSON TAVARES FRANCO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5F8F6"/>
                    </a:solidFill>
                  </a:tcPr>
                </a:tc>
              </a:tr>
              <a:tr h="338327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EDIVANILSON BARBODA DE SOUSA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7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3822"/>
                          </a:solidFill>
                          <a:latin typeface="Segoe UI"/>
                        </a:defRPr>
                      </a:pPr>
                      <a:r>
                        <a:t>👤 PEDRO PAULO SILVA DOS SANTOS</a:t>
                      </a:r>
                    </a:p>
                  </a:txBody>
                  <a:tcPr>
                    <a:solidFill>
                      <a:srgbClr val="E2EF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i="1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Subtotal da equipe (1 vendedores):</a:t>
                      </a:r>
                    </a:p>
                  </a:txBody>
                  <a:tcPr>
                    <a:solidFill>
                      <a:srgbClr val="E2EF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3822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E2EF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3822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E2EFE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950">
                          <a:solidFill>
                            <a:srgbClr val="0F3822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2EFE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950">
                          <a:solidFill>
                            <a:srgbClr val="0F3822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2EFE7"/>
                    </a:solidFill>
                  </a:tcPr>
                </a:tc>
              </a:tr>
              <a:tr h="338332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RONILSON DOS SANTOS HWANSI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3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C99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NOTAS TÉCNICAS, AUDITORIA &amp; DIRETRIZES OPERACIONAIS (RH)</a:t>
            </a:r>
          </a:p>
          <a:p>
            <a:pPr>
              <a:defRPr sz="1100">
                <a:solidFill>
                  <a:srgbClr val="F5E6C3"/>
                </a:solidFill>
                <a:latin typeface="Segoe UI"/>
              </a:defRPr>
            </a:pPr>
            <a:r>
              <a:t>Conclusão da apuração de desempenho comercial e critérios de validação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Campanha Crystal ICE &amp; Petra Ultra • Vendas apuradas por RCA do Pedido (VEND-PED) • Fechamento Oficial (AGO/2026)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106984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45920"/>
            <a:ext cx="9966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3822"/>
                </a:solidFill>
                <a:latin typeface="Segoe UI"/>
              </a:defRPr>
            </a:pPr>
            <a:r>
              <a:t>NOTAS TÉCNICAS E VALIDAÇÃO DA APURAÇÃO</a:t>
            </a:r>
          </a:p>
          <a:p>
            <a:br/>
            <a:pPr>
              <a:defRPr sz="1100" b="1">
                <a:solidFill>
                  <a:srgbClr val="1E293B"/>
                </a:solidFill>
                <a:latin typeface="Segoe UI"/>
              </a:defRPr>
            </a:pPr>
            <a:r>
              <a:t>• Critério de Vendedor Válido (VEND-PED):</a:t>
            </a:r>
            <a:r>
              <a:rPr b="0">
                <a:solidFill>
                  <a:srgbClr val="475569"/>
                </a:solidFill>
              </a:rPr>
              <a:t> A apuração considera estritamente o RCA que emitiu o pedido (IDRCA_PED no Winthor Histórico e IDRCA no Winthor Atual), garantindo que todo o esforço de venda seja creditado com exatidão a quem efetivamente gerou o faturamento.</a:t>
            </a:r>
          </a:p>
          <a:p>
            <a:br/>
            <a:pPr>
              <a:defRPr sz="1100" b="1">
                <a:solidFill>
                  <a:srgbClr val="1E293B"/>
                </a:solidFill>
                <a:latin typeface="Segoe UI"/>
              </a:defRPr>
            </a:pPr>
            <a:r>
              <a:t>• Duplo Critério de Reconhecimento:</a:t>
            </a:r>
            <a:r>
              <a:rPr b="0">
                <a:solidFill>
                  <a:srgbClr val="475569"/>
                </a:solidFill>
              </a:rPr>
              <a:t> A apuração apresenta tanto o Ranking Geral por Volume Faturado (caixas) quanto o Ranking Geral por Cobertura de Mercado (positivação de clientes), permitindo uma avaliação abrangente do esforço comercial sem corte arbitrário.</a:t>
            </a:r>
          </a:p>
          <a:p>
            <a:br/>
            <a:pPr>
              <a:defRPr sz="1100" b="1">
                <a:solidFill>
                  <a:srgbClr val="1E293B"/>
                </a:solidFill>
                <a:latin typeface="Segoe UI"/>
              </a:defRPr>
            </a:pPr>
            <a:r>
              <a:t>• Totais Consolidados Auditados:</a:t>
            </a:r>
            <a:r>
              <a:rPr b="0">
                <a:solidFill>
                  <a:srgbClr val="475569"/>
                </a:solidFill>
              </a:rPr>
              <a:t> Foram faturadas 1.557 caixas de Petra Ultra e 763 caixas de Crystal Ice, totalizando 2.320 caixas e 875 positivações de clientes no período oficial da campanha em toda a regional.</a:t>
            </a:r>
          </a:p>
          <a:p>
            <a:br/>
            <a:pPr>
              <a:defRPr sz="1100" b="1">
                <a:solidFill>
                  <a:srgbClr val="1E293B"/>
                </a:solidFill>
                <a:latin typeface="Segoe UI"/>
              </a:defRPr>
            </a:pPr>
            <a:r>
              <a:t>• Arquivos Completos em Excel:</a:t>
            </a:r>
            <a:r>
              <a:rPr b="0">
                <a:solidFill>
                  <a:srgbClr val="475569"/>
                </a:solidFill>
              </a:rPr>
              <a:t> O arquivo em Excel ('Vendedores_Bonus_RH_ICE_ULTRA.xlsx') contém 4 abas estruturadas (Ranking por Volume, Ranking por Clientes, Detalhamento por Supervisor e Resumo por Filial) com fórmulas dinâmicas para conciliação com o RH.</a:t>
            </a:r>
          </a:p>
          <a:p>
            <a:br/>
            <a:pPr>
              <a:defRPr sz="1100" b="1">
                <a:solidFill>
                  <a:srgbClr val="1E293B"/>
                </a:solidFill>
                <a:latin typeface="Segoe UI"/>
              </a:defRPr>
            </a:pPr>
            <a:r>
              <a:t>• Atualização no Power BI:</a:t>
            </a:r>
            <a:r>
              <a:rPr b="0">
                <a:solidFill>
                  <a:srgbClr val="475569"/>
                </a:solidFill>
              </a:rPr>
              <a:t> O modelo PBIP ('ICE_ULTRA.SemanticModel') e a página 'Info' ('ICE_ULTRA.Report') estão sincronizados com as medidas ativas USERELATIONSHIP e a tabela expandida de vendedores com ordenação decrescente por volume para consulta contínua.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